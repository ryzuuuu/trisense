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73579"/>
          </a:solidFill>
          <a:ln/>
        </p:spPr>
      </p:sp>
      <p:sp>
        <p:nvSpPr>
          <p:cNvPr id="3" name="Shape 1"/>
          <p:cNvSpPr/>
          <p:nvPr/>
        </p:nvSpPr>
        <p:spPr>
          <a:xfrm>
            <a:off x="-2011680" y="4754880"/>
            <a:ext cx="4572000" cy="4572000"/>
          </a:xfrm>
          <a:prstGeom prst="ellipse">
            <a:avLst/>
          </a:prstGeom>
          <a:solidFill>
            <a:srgbClr val="273579"/>
          </a:solidFill>
          <a:ln/>
        </p:spPr>
      </p:sp>
      <p:sp>
        <p:nvSpPr>
          <p:cNvPr id="4" name="Text 2"/>
          <p:cNvSpPr/>
          <p:nvPr/>
        </p:nvSpPr>
        <p:spPr>
          <a:xfrm>
            <a:off x="822960" y="822960"/>
            <a:ext cx="9144000" cy="365760"/>
          </a:xfrm>
          <a:prstGeom prst="rect">
            <a:avLst/>
          </a:prstGeom>
          <a:noFill/>
          <a:ln/>
        </p:spPr>
        <p:txBody>
          <a:bodyPr wrap="square" rtlCol="0" anchor="ctr"/>
          <a:lstStyle/>
          <a:p>
            <a:pPr indent="0" marL="0">
              <a:buNone/>
            </a:pPr>
            <a:r>
              <a:rPr lang="en-US" sz="1300" spc="200" kern="0" dirty="0">
                <a:solidFill>
                  <a:srgbClr val="CADCFC"/>
                </a:solidFill>
                <a:latin typeface="Calibri" pitchFamily="34" charset="0"/>
                <a:ea typeface="Calibri" pitchFamily="34" charset="-122"/>
                <a:cs typeface="Calibri" pitchFamily="34" charset="-120"/>
              </a:rPr>
              <a:t>CAPSTONE PROJECT — DSN4091 · PHASE-1 · REVIEW-1</a:t>
            </a:r>
            <a:endParaRPr lang="en-US" sz="1300" dirty="0"/>
          </a:p>
        </p:txBody>
      </p:sp>
      <p:sp>
        <p:nvSpPr>
          <p:cNvPr id="5" name="Text 3"/>
          <p:cNvSpPr/>
          <p:nvPr/>
        </p:nvSpPr>
        <p:spPr>
          <a:xfrm>
            <a:off x="822960" y="1371600"/>
            <a:ext cx="82296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TriSense</a:t>
            </a:r>
            <a:endParaRPr lang="en-US" sz="6000" dirty="0"/>
          </a:p>
        </p:txBody>
      </p:sp>
      <p:sp>
        <p:nvSpPr>
          <p:cNvPr id="6" name="Text 4"/>
          <p:cNvSpPr/>
          <p:nvPr/>
        </p:nvSpPr>
        <p:spPr>
          <a:xfrm>
            <a:off x="822960" y="2514600"/>
            <a:ext cx="8686800" cy="91440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 Unified Edge-AI Wearable for Real-Time Assistance to the</a:t>
            </a:r>
            <a:endParaRPr lang="en-US" sz="1800" dirty="0"/>
          </a:p>
          <a:p>
            <a:pPr indent="0" marL="0">
              <a:buNone/>
            </a:pPr>
            <a:r>
              <a:rPr lang="en-US" sz="1800" dirty="0">
                <a:solidFill>
                  <a:srgbClr val="CADCFC"/>
                </a:solidFill>
                <a:latin typeface="Calibri" pitchFamily="34" charset="0"/>
                <a:ea typeface="Calibri" pitchFamily="34" charset="-122"/>
                <a:cs typeface="Calibri" pitchFamily="34" charset="-120"/>
              </a:rPr>
              <a:t>Visually, Hearing, and Speech Impaired</a:t>
            </a:r>
            <a:endParaRPr lang="en-US" sz="1800" dirty="0"/>
          </a:p>
        </p:txBody>
      </p:sp>
      <p:sp>
        <p:nvSpPr>
          <p:cNvPr id="7" name="Shape 5"/>
          <p:cNvSpPr/>
          <p:nvPr/>
        </p:nvSpPr>
        <p:spPr>
          <a:xfrm>
            <a:off x="822960" y="3657600"/>
            <a:ext cx="8778240" cy="2331720"/>
          </a:xfrm>
          <a:prstGeom prst="rect">
            <a:avLst>
              <a:gd name="adj" fmla="val 3137"/>
            </a:avLst>
          </a:prstGeom>
          <a:solidFill>
            <a:srgbClr val="1A2154"/>
          </a:solidFill>
          <a:ln w="12700">
            <a:solidFill>
              <a:srgbClr val="3A4590"/>
            </a:solidFill>
            <a:prstDash val="solid"/>
          </a:ln>
        </p:spPr>
      </p:sp>
      <p:sp>
        <p:nvSpPr>
          <p:cNvPr id="8" name="Text 6"/>
          <p:cNvSpPr/>
          <p:nvPr/>
        </p:nvSpPr>
        <p:spPr>
          <a:xfrm>
            <a:off x="1051560" y="3840480"/>
            <a:ext cx="3657600" cy="320040"/>
          </a:xfrm>
          <a:prstGeom prst="rect">
            <a:avLst/>
          </a:prstGeom>
          <a:noFill/>
          <a:ln/>
        </p:spPr>
        <p:txBody>
          <a:bodyPr wrap="square" rtlCol="0" anchor="ctr"/>
          <a:lstStyle/>
          <a:p>
            <a:pPr indent="0" marL="0">
              <a:buNone/>
            </a:pPr>
            <a:r>
              <a:rPr lang="en-US" sz="1300" b="1" dirty="0">
                <a:solidFill>
                  <a:srgbClr val="ED7D31"/>
                </a:solidFill>
                <a:latin typeface="Calibri" pitchFamily="34" charset="0"/>
                <a:ea typeface="Calibri" pitchFamily="34" charset="-122"/>
                <a:cs typeface="Calibri" pitchFamily="34" charset="-120"/>
              </a:rPr>
              <a:t>Team Members</a:t>
            </a:r>
            <a:endParaRPr lang="en-US" sz="1300" dirty="0"/>
          </a:p>
        </p:txBody>
      </p:sp>
      <p:sp>
        <p:nvSpPr>
          <p:cNvPr id="9" name="Text 7"/>
          <p:cNvSpPr/>
          <p:nvPr/>
        </p:nvSpPr>
        <p:spPr>
          <a:xfrm>
            <a:off x="1051560" y="4206240"/>
            <a:ext cx="4206240" cy="1691640"/>
          </a:xfrm>
          <a:prstGeom prst="rect">
            <a:avLst/>
          </a:prstGeom>
          <a:noFill/>
          <a:ln/>
        </p:spPr>
        <p:txBody>
          <a:bodyPr wrap="square" rtlCol="0" anchor="ctr"/>
          <a:lstStyle/>
          <a:p>
            <a:pPr indent="0" marL="0">
              <a:lnSpc>
                <a:spcPts val="2200"/>
              </a:lnSpc>
              <a:buNone/>
            </a:pPr>
            <a:r>
              <a:rPr lang="en-US" sz="1250" dirty="0">
                <a:solidFill>
                  <a:srgbClr val="FFFFFF"/>
                </a:solidFill>
                <a:latin typeface="Calibri" pitchFamily="34" charset="0"/>
                <a:ea typeface="Calibri" pitchFamily="34" charset="-122"/>
                <a:cs typeface="Calibri" pitchFamily="34" charset="-120"/>
              </a:rPr>
              <a:t>1. &lt;&lt;Register No.&gt;&gt;  &lt;&lt;Name 1&gt;&gt;</a:t>
            </a:r>
            <a:endParaRPr lang="en-US" sz="1250" dirty="0"/>
          </a:p>
          <a:p>
            <a:pPr indent="0" marL="0">
              <a:lnSpc>
                <a:spcPts val="2200"/>
              </a:lnSpc>
              <a:buNone/>
            </a:pPr>
            <a:r>
              <a:rPr lang="en-US" sz="1250" dirty="0">
                <a:solidFill>
                  <a:srgbClr val="FFFFFF"/>
                </a:solidFill>
                <a:latin typeface="Calibri" pitchFamily="34" charset="0"/>
                <a:ea typeface="Calibri" pitchFamily="34" charset="-122"/>
                <a:cs typeface="Calibri" pitchFamily="34" charset="-120"/>
              </a:rPr>
              <a:t>2. &lt;&lt;Register No.&gt;&gt;  &lt;&lt;Name 2&gt;&gt;</a:t>
            </a:r>
            <a:endParaRPr lang="en-US" sz="1250" dirty="0"/>
          </a:p>
          <a:p>
            <a:pPr indent="0" marL="0">
              <a:lnSpc>
                <a:spcPts val="2200"/>
              </a:lnSpc>
              <a:buNone/>
            </a:pPr>
            <a:r>
              <a:rPr lang="en-US" sz="1250" dirty="0">
                <a:solidFill>
                  <a:srgbClr val="FFFFFF"/>
                </a:solidFill>
                <a:latin typeface="Calibri" pitchFamily="34" charset="0"/>
                <a:ea typeface="Calibri" pitchFamily="34" charset="-122"/>
                <a:cs typeface="Calibri" pitchFamily="34" charset="-120"/>
              </a:rPr>
              <a:t>3. &lt;&lt;Register No.&gt;&gt;  &lt;&lt;Name 3&gt;&gt;</a:t>
            </a:r>
            <a:endParaRPr lang="en-US" sz="1250" dirty="0"/>
          </a:p>
          <a:p>
            <a:pPr indent="0" marL="0">
              <a:lnSpc>
                <a:spcPts val="2200"/>
              </a:lnSpc>
              <a:buNone/>
            </a:pPr>
            <a:r>
              <a:rPr lang="en-US" sz="1250" dirty="0">
                <a:solidFill>
                  <a:srgbClr val="FFFFFF"/>
                </a:solidFill>
                <a:latin typeface="Calibri" pitchFamily="34" charset="0"/>
                <a:ea typeface="Calibri" pitchFamily="34" charset="-122"/>
                <a:cs typeface="Calibri" pitchFamily="34" charset="-120"/>
              </a:rPr>
              <a:t>4. &lt;&lt;Register No.&gt;&gt;  &lt;&lt;Name 4&gt;&gt;</a:t>
            </a:r>
            <a:endParaRPr lang="en-US" sz="1250" dirty="0"/>
          </a:p>
          <a:p>
            <a:pPr indent="0" marL="0">
              <a:lnSpc>
                <a:spcPts val="2200"/>
              </a:lnSpc>
              <a:buNone/>
            </a:pPr>
            <a:r>
              <a:rPr lang="en-US" sz="1250" dirty="0">
                <a:solidFill>
                  <a:srgbClr val="FFFFFF"/>
                </a:solidFill>
                <a:latin typeface="Calibri" pitchFamily="34" charset="0"/>
                <a:ea typeface="Calibri" pitchFamily="34" charset="-122"/>
                <a:cs typeface="Calibri" pitchFamily="34" charset="-120"/>
              </a:rPr>
              <a:t>5. &lt;&lt;Register No.&gt;&gt;  &lt;&lt;Name 5&gt;&gt;</a:t>
            </a:r>
            <a:endParaRPr lang="en-US" sz="1250" dirty="0"/>
          </a:p>
        </p:txBody>
      </p:sp>
      <p:sp>
        <p:nvSpPr>
          <p:cNvPr id="10" name="Text 8"/>
          <p:cNvSpPr/>
          <p:nvPr/>
        </p:nvSpPr>
        <p:spPr>
          <a:xfrm>
            <a:off x="5669280" y="3840480"/>
            <a:ext cx="3200400" cy="320040"/>
          </a:xfrm>
          <a:prstGeom prst="rect">
            <a:avLst/>
          </a:prstGeom>
          <a:noFill/>
          <a:ln/>
        </p:spPr>
        <p:txBody>
          <a:bodyPr wrap="square" rtlCol="0" anchor="ctr"/>
          <a:lstStyle/>
          <a:p>
            <a:pPr indent="0" marL="0">
              <a:buNone/>
            </a:pPr>
            <a:r>
              <a:rPr lang="en-US" sz="1300" b="1" dirty="0">
                <a:solidFill>
                  <a:srgbClr val="ED7D31"/>
                </a:solidFill>
                <a:latin typeface="Calibri" pitchFamily="34" charset="0"/>
                <a:ea typeface="Calibri" pitchFamily="34" charset="-122"/>
                <a:cs typeface="Calibri" pitchFamily="34" charset="-120"/>
              </a:rPr>
              <a:t>Supervisor</a:t>
            </a:r>
            <a:endParaRPr lang="en-US" sz="1300" dirty="0"/>
          </a:p>
        </p:txBody>
      </p:sp>
      <p:sp>
        <p:nvSpPr>
          <p:cNvPr id="11" name="Text 9"/>
          <p:cNvSpPr/>
          <p:nvPr/>
        </p:nvSpPr>
        <p:spPr>
          <a:xfrm>
            <a:off x="5669280" y="4206240"/>
            <a:ext cx="3657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&lt;&lt;Supervisor Name&gt;&gt;</a:t>
            </a:r>
            <a:endParaRPr lang="en-US" sz="1400" dirty="0"/>
          </a:p>
        </p:txBody>
      </p:sp>
      <p:sp>
        <p:nvSpPr>
          <p:cNvPr id="12" name="Text 10"/>
          <p:cNvSpPr/>
          <p:nvPr/>
        </p:nvSpPr>
        <p:spPr>
          <a:xfrm>
            <a:off x="5669280" y="4617720"/>
            <a:ext cx="3749040" cy="82296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School of Computing Science &amp; Engineering</a:t>
            </a:r>
            <a:endParaRPr lang="en-US" sz="1150" dirty="0"/>
          </a:p>
          <a:p>
            <a:pPr indent="0" marL="0">
              <a:buNone/>
            </a:pPr>
            <a:r>
              <a:rPr lang="en-US" sz="1150" dirty="0">
                <a:solidFill>
                  <a:srgbClr val="CADCFC"/>
                </a:solidFill>
                <a:latin typeface="Calibri" pitchFamily="34" charset="0"/>
                <a:ea typeface="Calibri" pitchFamily="34" charset="-122"/>
                <a:cs typeface="Calibri" pitchFamily="34" charset="-120"/>
              </a:rPr>
              <a:t>VIT Bhopal University, Bhopal, Madhya Pradesh</a:t>
            </a:r>
            <a:endParaRPr lang="en-US" sz="1150" dirty="0"/>
          </a:p>
        </p:txBody>
      </p:sp>
      <p:pic>
        <p:nvPicPr>
          <p:cNvPr id="13" name="Image 0" descr="images/logo1.jpeg">    </p:cNvPr>
          <p:cNvPicPr>
            <a:picLocks noChangeAspect="1"/>
          </p:cNvPicPr>
          <p:nvPr/>
        </p:nvPicPr>
        <p:blipFill>
          <a:blip r:embed="rId1"/>
          <a:stretch>
            <a:fillRect/>
          </a:stretch>
        </p:blipFill>
        <p:spPr>
          <a:xfrm>
            <a:off x="10149840" y="5989320"/>
            <a:ext cx="1463040" cy="5760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 Objective</a:t>
            </a:r>
            <a:endParaRPr lang="en-US" sz="3000" dirty="0"/>
          </a:p>
        </p:txBody>
      </p:sp>
      <p:sp>
        <p:nvSpPr>
          <p:cNvPr id="3" name="Shape 1"/>
          <p:cNvSpPr/>
          <p:nvPr/>
        </p:nvSpPr>
        <p:spPr>
          <a:xfrm>
            <a:off x="548640" y="1234440"/>
            <a:ext cx="5486400" cy="4937760"/>
          </a:xfrm>
          <a:prstGeom prst="rect">
            <a:avLst>
              <a:gd name="adj" fmla="val 1111"/>
            </a:avLst>
          </a:prstGeom>
          <a:solidFill>
            <a:srgbClr val="F4F6FB"/>
          </a:solidFill>
          <a:ln/>
        </p:spPr>
      </p:sp>
      <p:sp>
        <p:nvSpPr>
          <p:cNvPr id="4" name="Text 2"/>
          <p:cNvSpPr/>
          <p:nvPr/>
        </p:nvSpPr>
        <p:spPr>
          <a:xfrm>
            <a:off x="822960" y="1463040"/>
            <a:ext cx="49377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Why this project</a:t>
            </a:r>
            <a:endParaRPr lang="en-US" sz="1500" dirty="0"/>
          </a:p>
        </p:txBody>
      </p:sp>
      <p:sp>
        <p:nvSpPr>
          <p:cNvPr id="5" name="Text 3"/>
          <p:cNvSpPr/>
          <p:nvPr/>
        </p:nvSpPr>
        <p:spPr>
          <a:xfrm>
            <a:off x="822960" y="1965960"/>
            <a:ext cx="4937760" cy="4023360"/>
          </a:xfrm>
          <a:prstGeom prst="rect">
            <a:avLst/>
          </a:prstGeom>
          <a:noFill/>
          <a:ln/>
        </p:spPr>
        <p:txBody>
          <a:bodyPr wrap="square" rtlCol="0" anchor="ctr"/>
          <a:lstStyle/>
          <a:p>
            <a:pPr marL="342900" indent="-342900">
              <a:lnSpc>
                <a:spcPts val="2600"/>
              </a:lnSpc>
              <a:buSzPct val="100000"/>
              <a:buChar char="•"/>
            </a:pPr>
            <a:r>
              <a:rPr lang="en-US" sz="1300" dirty="0">
                <a:solidFill>
                  <a:srgbClr val="232B3E"/>
                </a:solidFill>
                <a:latin typeface="Calibri" pitchFamily="34" charset="0"/>
                <a:ea typeface="Calibri" pitchFamily="34" charset="-122"/>
                <a:cs typeface="Calibri" pitchFamily="34" charset="-120"/>
              </a:rPr>
              <a:t>2.2 billion+ people live with vision impairment worldwide (WHO).
</a:t>
            </a:r>
            <a:endParaRPr lang="en-US" sz="1300" dirty="0"/>
          </a:p>
          <a:p>
            <a:pPr marL="342900" indent="-342900">
              <a:lnSpc>
                <a:spcPts val="2600"/>
              </a:lnSpc>
              <a:buSzPct val="100000"/>
              <a:buChar char="•"/>
            </a:pPr>
            <a:r>
              <a:rPr lang="en-US" sz="1300" dirty="0">
                <a:solidFill>
                  <a:srgbClr val="232B3E"/>
                </a:solidFill>
                <a:latin typeface="Calibri" pitchFamily="34" charset="0"/>
                <a:ea typeface="Calibri" pitchFamily="34" charset="-122"/>
                <a:cs typeface="Calibri" pitchFamily="34" charset="-120"/>
              </a:rPr>
              <a:t>430 million+ people experience disabling hearing loss.
</a:t>
            </a:r>
            <a:endParaRPr lang="en-US" sz="1300" dirty="0"/>
          </a:p>
          <a:p>
            <a:pPr marL="342900" indent="-342900">
              <a:lnSpc>
                <a:spcPts val="2600"/>
              </a:lnSpc>
              <a:buSzPct val="100000"/>
              <a:buChar char="•"/>
            </a:pPr>
            <a:r>
              <a:rPr lang="en-US" sz="1300" dirty="0">
                <a:solidFill>
                  <a:srgbClr val="232B3E"/>
                </a:solidFill>
                <a:latin typeface="Calibri" pitchFamily="34" charset="0"/>
                <a:ea typeface="Calibri" pitchFamily="34" charset="-122"/>
                <a:cs typeface="Calibri" pitchFamily="34" charset="-120"/>
              </a:rPr>
              <a:t>Millions rely on sign language, with interpreter availability a persistent bottleneck.
</a:t>
            </a:r>
            <a:endParaRPr lang="en-US" sz="1300" dirty="0"/>
          </a:p>
          <a:p>
            <a:pPr marL="342900" indent="-342900">
              <a:lnSpc>
                <a:spcPts val="2600"/>
              </a:lnSpc>
              <a:buSzPct val="100000"/>
              <a:buChar char="•"/>
            </a:pPr>
            <a:r>
              <a:rPr lang="en-US" sz="1300" dirty="0">
                <a:solidFill>
                  <a:srgbClr val="232B3E"/>
                </a:solidFill>
                <a:latin typeface="Calibri" pitchFamily="34" charset="0"/>
                <a:ea typeface="Calibri" pitchFamily="34" charset="-122"/>
                <a:cs typeface="Calibri" pitchFamily="34" charset="-120"/>
              </a:rPr>
              <a:t>Existing solutions are single-purpose, costly, and rarely reach low-resource users.</a:t>
            </a:r>
            <a:endParaRPr lang="en-US" sz="1300" dirty="0"/>
          </a:p>
        </p:txBody>
      </p:sp>
      <p:sp>
        <p:nvSpPr>
          <p:cNvPr id="6" name="Shape 4"/>
          <p:cNvSpPr/>
          <p:nvPr/>
        </p:nvSpPr>
        <p:spPr>
          <a:xfrm>
            <a:off x="6309360" y="1234440"/>
            <a:ext cx="5349240" cy="4937760"/>
          </a:xfrm>
          <a:prstGeom prst="rect">
            <a:avLst>
              <a:gd name="adj" fmla="val 1111"/>
            </a:avLst>
          </a:prstGeom>
          <a:solidFill>
            <a:srgbClr val="1E2761"/>
          </a:solidFill>
          <a:ln/>
        </p:spPr>
      </p:sp>
      <p:sp>
        <p:nvSpPr>
          <p:cNvPr id="7" name="Text 5"/>
          <p:cNvSpPr/>
          <p:nvPr/>
        </p:nvSpPr>
        <p:spPr>
          <a:xfrm>
            <a:off x="6583680" y="1463040"/>
            <a:ext cx="4754880" cy="365760"/>
          </a:xfrm>
          <a:prstGeom prst="rect">
            <a:avLst/>
          </a:prstGeom>
          <a:noFill/>
          <a:ln/>
        </p:spPr>
        <p:txBody>
          <a:bodyPr wrap="square" rtlCol="0" anchor="ctr"/>
          <a:lstStyle/>
          <a:p>
            <a:pPr indent="0" marL="0">
              <a:buNone/>
            </a:pPr>
            <a:r>
              <a:rPr lang="en-US" sz="1500" b="1" dirty="0">
                <a:solidFill>
                  <a:srgbClr val="ED7D31"/>
                </a:solidFill>
                <a:latin typeface="Calibri" pitchFamily="34" charset="0"/>
                <a:ea typeface="Calibri" pitchFamily="34" charset="-122"/>
                <a:cs typeface="Calibri" pitchFamily="34" charset="-120"/>
              </a:rPr>
              <a:t>Aim</a:t>
            </a:r>
            <a:endParaRPr lang="en-US" sz="1500" dirty="0"/>
          </a:p>
        </p:txBody>
      </p:sp>
      <p:sp>
        <p:nvSpPr>
          <p:cNvPr id="8" name="Text 6"/>
          <p:cNvSpPr/>
          <p:nvPr/>
        </p:nvSpPr>
        <p:spPr>
          <a:xfrm>
            <a:off x="6583680" y="1920240"/>
            <a:ext cx="4754880" cy="1463040"/>
          </a:xfrm>
          <a:prstGeom prst="rect">
            <a:avLst/>
          </a:prstGeom>
          <a:noFill/>
          <a:ln/>
        </p:spPr>
        <p:txBody>
          <a:bodyPr wrap="square" rtlCol="0" anchor="ctr"/>
          <a:lstStyle/>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To design and build a single low-cost, offline-capable, edge-AI wearable that gives real, everyday independence to three different disability groups — through one shared on-device compute engine.</a:t>
            </a:r>
            <a:endParaRPr lang="en-US" sz="1350" dirty="0"/>
          </a:p>
        </p:txBody>
      </p:sp>
      <p:sp>
        <p:nvSpPr>
          <p:cNvPr id="9" name="Text 7"/>
          <p:cNvSpPr/>
          <p:nvPr/>
        </p:nvSpPr>
        <p:spPr>
          <a:xfrm>
            <a:off x="6583680" y="3520440"/>
            <a:ext cx="4754880" cy="2468880"/>
          </a:xfrm>
          <a:prstGeom prst="rect">
            <a:avLst/>
          </a:prstGeom>
          <a:noFill/>
          <a:ln/>
        </p:spPr>
        <p:txBody>
          <a:bodyPr wrap="square" rtlCol="0" anchor="ctr"/>
          <a:lstStyle/>
          <a:p>
            <a:pPr marL="342900" indent="-342900">
              <a:lnSpc>
                <a:spcPts val="2400"/>
              </a:lnSpc>
              <a:buSzPct val="100000"/>
              <a:buChar char="•"/>
            </a:pPr>
            <a:r>
              <a:rPr lang="en-US" sz="1250" dirty="0">
                <a:solidFill>
                  <a:srgbClr val="FFFFFF"/>
                </a:solidFill>
                <a:latin typeface="Calibri" pitchFamily="34" charset="0"/>
                <a:ea typeface="Calibri" pitchFamily="34" charset="-122"/>
                <a:cs typeface="Calibri" pitchFamily="34" charset="-120"/>
              </a:rPr>
              <a:t>Real-time obstacle &amp; collision-time prediction (Blind Mode)
</a:t>
            </a:r>
            <a:endParaRPr lang="en-US" sz="1250" dirty="0"/>
          </a:p>
          <a:p>
            <a:pPr marL="342900" indent="-342900">
              <a:lnSpc>
                <a:spcPts val="2400"/>
              </a:lnSpc>
              <a:buSzPct val="100000"/>
              <a:buChar char="•"/>
            </a:pPr>
            <a:r>
              <a:rPr lang="en-US" sz="1250" dirty="0">
                <a:solidFill>
                  <a:srgbClr val="FFFFFF"/>
                </a:solidFill>
                <a:latin typeface="Calibri" pitchFamily="34" charset="0"/>
                <a:ea typeface="Calibri" pitchFamily="34" charset="-122"/>
                <a:cs typeface="Calibri" pitchFamily="34" charset="-120"/>
              </a:rPr>
              <a:t>Live, on-device speech-to-text captioning (Deaf Mode)
</a:t>
            </a:r>
            <a:endParaRPr lang="en-US" sz="1250" dirty="0"/>
          </a:p>
          <a:p>
            <a:pPr marL="342900" indent="-342900">
              <a:lnSpc>
                <a:spcPts val="2400"/>
              </a:lnSpc>
              <a:buSzPct val="100000"/>
              <a:buChar char="•"/>
            </a:pPr>
            <a:r>
              <a:rPr lang="en-US" sz="1250" dirty="0">
                <a:solidFill>
                  <a:srgbClr val="FFFFFF"/>
                </a:solidFill>
                <a:latin typeface="Calibri" pitchFamily="34" charset="0"/>
                <a:ea typeface="Calibri" pitchFamily="34" charset="-122"/>
                <a:cs typeface="Calibri" pitchFamily="34" charset="-120"/>
              </a:rPr>
              <a:t>Sign-language-to-speech translation (Mute Mode)
</a:t>
            </a:r>
            <a:endParaRPr lang="en-US" sz="1250" dirty="0"/>
          </a:p>
          <a:p>
            <a:pPr marL="342900" indent="-342900">
              <a:lnSpc>
                <a:spcPts val="2400"/>
              </a:lnSpc>
              <a:buSzPct val="100000"/>
              <a:buChar char="•"/>
            </a:pPr>
            <a:r>
              <a:rPr lang="en-US" sz="1250" dirty="0">
                <a:solidFill>
                  <a:srgbClr val="FFFFFF"/>
                </a:solidFill>
                <a:latin typeface="Calibri" pitchFamily="34" charset="0"/>
                <a:ea typeface="Calibri" pitchFamily="34" charset="-122"/>
                <a:cs typeface="Calibri" pitchFamily="34" charset="-120"/>
              </a:rPr>
              <a:t>All three running fully offline, on one shared low-cost board
</a:t>
            </a:r>
            <a:endParaRPr lang="en-US" sz="1250" dirty="0"/>
          </a:p>
        </p:txBody>
      </p:sp>
      <p:sp>
        <p:nvSpPr>
          <p:cNvPr id="10" name="Text 8"/>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11" name="Text 9"/>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 Clarity &amp; Significance of the Problem Statement</a:t>
            </a:r>
            <a:endParaRPr lang="en-US" sz="3000" dirty="0"/>
          </a:p>
        </p:txBody>
      </p:sp>
      <p:sp>
        <p:nvSpPr>
          <p:cNvPr id="3" name="Text 1"/>
          <p:cNvSpPr/>
          <p:nvPr/>
        </p:nvSpPr>
        <p:spPr>
          <a:xfrm>
            <a:off x="548640" y="1188720"/>
            <a:ext cx="10972800" cy="365760"/>
          </a:xfrm>
          <a:prstGeom prst="rect">
            <a:avLst/>
          </a:prstGeom>
          <a:noFill/>
          <a:ln/>
        </p:spPr>
        <p:txBody>
          <a:bodyPr wrap="square" rtlCol="0" anchor="ctr"/>
          <a:lstStyle/>
          <a:p>
            <a:pPr indent="0" marL="0">
              <a:buNone/>
            </a:pPr>
            <a:r>
              <a:rPr lang="en-US" sz="1400" b="1" dirty="0">
                <a:solidFill>
                  <a:srgbClr val="ED7D31"/>
                </a:solidFill>
                <a:latin typeface="Calibri" pitchFamily="34" charset="0"/>
                <a:ea typeface="Calibri" pitchFamily="34" charset="-122"/>
                <a:cs typeface="Calibri" pitchFamily="34" charset="-120"/>
              </a:rPr>
              <a:t>Problem Statement</a:t>
            </a:r>
            <a:endParaRPr lang="en-US" sz="1400" dirty="0"/>
          </a:p>
        </p:txBody>
      </p:sp>
      <p:sp>
        <p:nvSpPr>
          <p:cNvPr id="4" name="Text 2"/>
          <p:cNvSpPr/>
          <p:nvPr/>
        </p:nvSpPr>
        <p:spPr>
          <a:xfrm>
            <a:off x="548640" y="1554480"/>
            <a:ext cx="10972800" cy="1005840"/>
          </a:xfrm>
          <a:prstGeom prst="rect">
            <a:avLst/>
          </a:prstGeom>
          <a:noFill/>
          <a:ln/>
        </p:spPr>
        <p:txBody>
          <a:bodyPr wrap="square" rtlCol="0" anchor="ctr"/>
          <a:lstStyle/>
          <a:p>
            <a:pPr indent="0" marL="0">
              <a:lnSpc>
                <a:spcPts val="2200"/>
              </a:lnSpc>
              <a:buNone/>
            </a:pPr>
            <a:r>
              <a:rPr lang="en-US" sz="1500" dirty="0">
                <a:solidFill>
                  <a:srgbClr val="232B3E"/>
                </a:solidFill>
                <a:latin typeface="Calibri" pitchFamily="34" charset="0"/>
                <a:ea typeface="Calibri" pitchFamily="34" charset="-122"/>
                <a:cs typeface="Calibri" pitchFamily="34" charset="-120"/>
              </a:rPr>
              <a:t>Visually, hearing, and speech-impaired individuals each depend on single-purpose, often expensive assistive devices (canes, hearing aids, interpreter services) that address only one need, are frequently unaffordable in low-resource settings, and largely rely on cloud connectivity that isn't always available.</a:t>
            </a:r>
            <a:endParaRPr lang="en-US" sz="1500" dirty="0"/>
          </a:p>
        </p:txBody>
      </p:sp>
      <p:sp>
        <p:nvSpPr>
          <p:cNvPr id="5" name="Shape 3"/>
          <p:cNvSpPr/>
          <p:nvPr/>
        </p:nvSpPr>
        <p:spPr>
          <a:xfrm>
            <a:off x="548640" y="2834640"/>
            <a:ext cx="3566160" cy="2651760"/>
          </a:xfrm>
          <a:prstGeom prst="rect">
            <a:avLst>
              <a:gd name="adj" fmla="val 2069"/>
            </a:avLst>
          </a:prstGeom>
          <a:solidFill>
            <a:srgbClr val="F4F6FB"/>
          </a:solidFill>
          <a:ln/>
        </p:spPr>
      </p:sp>
      <p:sp>
        <p:nvSpPr>
          <p:cNvPr id="6" name="Shape 4"/>
          <p:cNvSpPr/>
          <p:nvPr/>
        </p:nvSpPr>
        <p:spPr>
          <a:xfrm>
            <a:off x="822960" y="3108960"/>
            <a:ext cx="502920" cy="502920"/>
          </a:xfrm>
          <a:prstGeom prst="ellipse">
            <a:avLst/>
          </a:prstGeom>
          <a:solidFill>
            <a:srgbClr val="1E2761"/>
          </a:solidFill>
          <a:ln/>
        </p:spPr>
      </p:sp>
      <p:sp>
        <p:nvSpPr>
          <p:cNvPr id="7" name="Text 5"/>
          <p:cNvSpPr/>
          <p:nvPr/>
        </p:nvSpPr>
        <p:spPr>
          <a:xfrm>
            <a:off x="822960" y="3794760"/>
            <a:ext cx="3108960" cy="5486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No predictive safety</a:t>
            </a:r>
            <a:endParaRPr lang="en-US" sz="1450" dirty="0"/>
          </a:p>
        </p:txBody>
      </p:sp>
      <p:sp>
        <p:nvSpPr>
          <p:cNvPr id="8" name="Text 6"/>
          <p:cNvSpPr/>
          <p:nvPr/>
        </p:nvSpPr>
        <p:spPr>
          <a:xfrm>
            <a:off x="822960" y="4343400"/>
            <a:ext cx="3108960" cy="1051560"/>
          </a:xfrm>
          <a:prstGeom prst="rect">
            <a:avLst/>
          </a:prstGeom>
          <a:noFill/>
          <a:ln/>
        </p:spPr>
        <p:txBody>
          <a:bodyPr wrap="square" rtlCol="0" anchor="ctr"/>
          <a:lstStyle/>
          <a:p>
            <a:pPr indent="0" marL="0">
              <a:lnSpc>
                <a:spcPts val="1600"/>
              </a:lnSpc>
              <a:buNone/>
            </a:pPr>
            <a:r>
              <a:rPr lang="en-US" sz="1150" dirty="0">
                <a:solidFill>
                  <a:srgbClr val="232B3E"/>
                </a:solidFill>
                <a:latin typeface="Calibri" pitchFamily="34" charset="0"/>
                <a:ea typeface="Calibri" pitchFamily="34" charset="-122"/>
                <a:cs typeface="Calibri" pitchFamily="34" charset="-120"/>
              </a:rPr>
              <a:t>White canes give no time-to-collision warning — only contact-range detection.</a:t>
            </a:r>
            <a:endParaRPr lang="en-US" sz="1150" dirty="0"/>
          </a:p>
        </p:txBody>
      </p:sp>
      <p:sp>
        <p:nvSpPr>
          <p:cNvPr id="9" name="Shape 7"/>
          <p:cNvSpPr/>
          <p:nvPr/>
        </p:nvSpPr>
        <p:spPr>
          <a:xfrm>
            <a:off x="4343400" y="2834640"/>
            <a:ext cx="3566160" cy="2651760"/>
          </a:xfrm>
          <a:prstGeom prst="rect">
            <a:avLst>
              <a:gd name="adj" fmla="val 2069"/>
            </a:avLst>
          </a:prstGeom>
          <a:solidFill>
            <a:srgbClr val="F4F6FB"/>
          </a:solidFill>
          <a:ln/>
        </p:spPr>
      </p:sp>
      <p:sp>
        <p:nvSpPr>
          <p:cNvPr id="10" name="Shape 8"/>
          <p:cNvSpPr/>
          <p:nvPr/>
        </p:nvSpPr>
        <p:spPr>
          <a:xfrm>
            <a:off x="4617720" y="3108960"/>
            <a:ext cx="502920" cy="502920"/>
          </a:xfrm>
          <a:prstGeom prst="ellipse">
            <a:avLst/>
          </a:prstGeom>
          <a:solidFill>
            <a:srgbClr val="1E2761"/>
          </a:solidFill>
          <a:ln/>
        </p:spPr>
      </p:sp>
      <p:sp>
        <p:nvSpPr>
          <p:cNvPr id="11" name="Text 9"/>
          <p:cNvSpPr/>
          <p:nvPr/>
        </p:nvSpPr>
        <p:spPr>
          <a:xfrm>
            <a:off x="4617720" y="3794760"/>
            <a:ext cx="3108960" cy="5486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No live captioning</a:t>
            </a:r>
            <a:endParaRPr lang="en-US" sz="1450" dirty="0"/>
          </a:p>
        </p:txBody>
      </p:sp>
      <p:sp>
        <p:nvSpPr>
          <p:cNvPr id="12" name="Text 10"/>
          <p:cNvSpPr/>
          <p:nvPr/>
        </p:nvSpPr>
        <p:spPr>
          <a:xfrm>
            <a:off x="4617720" y="4343400"/>
            <a:ext cx="3108960" cy="1051560"/>
          </a:xfrm>
          <a:prstGeom prst="rect">
            <a:avLst/>
          </a:prstGeom>
          <a:noFill/>
          <a:ln/>
        </p:spPr>
        <p:txBody>
          <a:bodyPr wrap="square" rtlCol="0" anchor="ctr"/>
          <a:lstStyle/>
          <a:p>
            <a:pPr indent="0" marL="0">
              <a:lnSpc>
                <a:spcPts val="1600"/>
              </a:lnSpc>
              <a:buNone/>
            </a:pPr>
            <a:r>
              <a:rPr lang="en-US" sz="1150" dirty="0">
                <a:solidFill>
                  <a:srgbClr val="232B3E"/>
                </a:solidFill>
                <a:latin typeface="Calibri" pitchFamily="34" charset="0"/>
                <a:ea typeface="Calibri" pitchFamily="34" charset="-122"/>
                <a:cs typeface="Calibri" pitchFamily="34" charset="-120"/>
              </a:rPr>
              <a:t>Hearing aids amplify sound but do not transcribe group speech in real time.</a:t>
            </a:r>
            <a:endParaRPr lang="en-US" sz="1150" dirty="0"/>
          </a:p>
        </p:txBody>
      </p:sp>
      <p:sp>
        <p:nvSpPr>
          <p:cNvPr id="13" name="Shape 11"/>
          <p:cNvSpPr/>
          <p:nvPr/>
        </p:nvSpPr>
        <p:spPr>
          <a:xfrm>
            <a:off x="8138160" y="2834640"/>
            <a:ext cx="3566160" cy="2651760"/>
          </a:xfrm>
          <a:prstGeom prst="rect">
            <a:avLst>
              <a:gd name="adj" fmla="val 2069"/>
            </a:avLst>
          </a:prstGeom>
          <a:solidFill>
            <a:srgbClr val="F4F6FB"/>
          </a:solidFill>
          <a:ln/>
        </p:spPr>
      </p:sp>
      <p:sp>
        <p:nvSpPr>
          <p:cNvPr id="14" name="Shape 12"/>
          <p:cNvSpPr/>
          <p:nvPr/>
        </p:nvSpPr>
        <p:spPr>
          <a:xfrm>
            <a:off x="8412480" y="3108960"/>
            <a:ext cx="502920" cy="502920"/>
          </a:xfrm>
          <a:prstGeom prst="ellipse">
            <a:avLst/>
          </a:prstGeom>
          <a:solidFill>
            <a:srgbClr val="1E2761"/>
          </a:solidFill>
          <a:ln/>
        </p:spPr>
      </p:sp>
      <p:sp>
        <p:nvSpPr>
          <p:cNvPr id="15" name="Text 13"/>
          <p:cNvSpPr/>
          <p:nvPr/>
        </p:nvSpPr>
        <p:spPr>
          <a:xfrm>
            <a:off x="8412480" y="3794760"/>
            <a:ext cx="3108960" cy="5486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Interpreter dependency</a:t>
            </a:r>
            <a:endParaRPr lang="en-US" sz="1450" dirty="0"/>
          </a:p>
        </p:txBody>
      </p:sp>
      <p:sp>
        <p:nvSpPr>
          <p:cNvPr id="16" name="Text 14"/>
          <p:cNvSpPr/>
          <p:nvPr/>
        </p:nvSpPr>
        <p:spPr>
          <a:xfrm>
            <a:off x="8412480" y="4343400"/>
            <a:ext cx="3108960" cy="1051560"/>
          </a:xfrm>
          <a:prstGeom prst="rect">
            <a:avLst/>
          </a:prstGeom>
          <a:noFill/>
          <a:ln/>
        </p:spPr>
        <p:txBody>
          <a:bodyPr wrap="square" rtlCol="0" anchor="ctr"/>
          <a:lstStyle/>
          <a:p>
            <a:pPr indent="0" marL="0">
              <a:lnSpc>
                <a:spcPts val="1600"/>
              </a:lnSpc>
              <a:buNone/>
            </a:pPr>
            <a:r>
              <a:rPr lang="en-US" sz="1150" dirty="0">
                <a:solidFill>
                  <a:srgbClr val="232B3E"/>
                </a:solidFill>
                <a:latin typeface="Calibri" pitchFamily="34" charset="0"/>
                <a:ea typeface="Calibri" pitchFamily="34" charset="-122"/>
                <a:cs typeface="Calibri" pitchFamily="34" charset="-120"/>
              </a:rPr>
              <a:t>Sign language communication with non-signers needs a human interpreter, not always available.</a:t>
            </a:r>
            <a:endParaRPr lang="en-US" sz="1150" dirty="0"/>
          </a:p>
        </p:txBody>
      </p:sp>
      <p:sp>
        <p:nvSpPr>
          <p:cNvPr id="17" name="Text 15"/>
          <p:cNvSpPr/>
          <p:nvPr/>
        </p:nvSpPr>
        <p:spPr>
          <a:xfrm>
            <a:off x="548640" y="5715000"/>
            <a:ext cx="10972800" cy="54864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Significance: a single affordable device addressing all three needs has direct, quantifiable social impact for underserved communities, including rural India.</a:t>
            </a:r>
            <a:endParaRPr lang="en-US" sz="1250" dirty="0"/>
          </a:p>
        </p:txBody>
      </p:sp>
      <p:sp>
        <p:nvSpPr>
          <p:cNvPr id="18" name="Text 16"/>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19" name="Text 17"/>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 Feasibility &amp; Scope of the Project</a:t>
            </a:r>
            <a:endParaRPr lang="en-US" sz="3000" dirty="0"/>
          </a:p>
        </p:txBody>
      </p:sp>
      <p:sp>
        <p:nvSpPr>
          <p:cNvPr id="3" name="Text 1"/>
          <p:cNvSpPr/>
          <p:nvPr/>
        </p:nvSpPr>
        <p:spPr>
          <a:xfrm>
            <a:off x="548640" y="1234440"/>
            <a:ext cx="5394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 Scope</a:t>
            </a:r>
            <a:endParaRPr lang="en-US" sz="1500" dirty="0"/>
          </a:p>
        </p:txBody>
      </p:sp>
      <p:sp>
        <p:nvSpPr>
          <p:cNvPr id="4" name="Text 2"/>
          <p:cNvSpPr/>
          <p:nvPr/>
        </p:nvSpPr>
        <p:spPr>
          <a:xfrm>
            <a:off x="548640" y="1691640"/>
            <a:ext cx="5394960" cy="2926080"/>
          </a:xfrm>
          <a:prstGeom prst="rect">
            <a:avLst/>
          </a:prstGeom>
          <a:noFill/>
          <a:ln/>
        </p:spPr>
        <p:txBody>
          <a:bodyPr wrap="square" rtlCol="0" anchor="ctr"/>
          <a:lstStyle/>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Blind Mode: ultrasonic + depth-based obstacle/collision alert
</a:t>
            </a:r>
            <a:endParaRPr lang="en-US" sz="1250" dirty="0"/>
          </a:p>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Deaf Mode: fully on-device live speech-to-text captioning
</a:t>
            </a:r>
            <a:endParaRPr lang="en-US" sz="1250" dirty="0"/>
          </a:p>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Mute Mode: landmark-based sign-to-speech translation (stretch)
</a:t>
            </a:r>
            <a:endParaRPr lang="en-US" sz="1250" dirty="0"/>
          </a:p>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Single Raspberry Pi 4 edge unit, belt-mounted, battery powered
</a:t>
            </a:r>
            <a:endParaRPr lang="en-US" sz="1250" dirty="0"/>
          </a:p>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Quantized models for real-time, offline inference
</a:t>
            </a:r>
            <a:endParaRPr lang="en-US" sz="1250" dirty="0"/>
          </a:p>
        </p:txBody>
      </p:sp>
      <p:sp>
        <p:nvSpPr>
          <p:cNvPr id="5" name="Text 3"/>
          <p:cNvSpPr/>
          <p:nvPr/>
        </p:nvSpPr>
        <p:spPr>
          <a:xfrm>
            <a:off x="6263640" y="1234440"/>
            <a:ext cx="5394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Out of Scope (Phase-1)</a:t>
            </a:r>
            <a:endParaRPr lang="en-US" sz="1500" dirty="0"/>
          </a:p>
        </p:txBody>
      </p:sp>
      <p:sp>
        <p:nvSpPr>
          <p:cNvPr id="6" name="Text 4"/>
          <p:cNvSpPr/>
          <p:nvPr/>
        </p:nvSpPr>
        <p:spPr>
          <a:xfrm>
            <a:off x="6263640" y="1691640"/>
            <a:ext cx="5394960" cy="2926080"/>
          </a:xfrm>
          <a:prstGeom prst="rect">
            <a:avLst/>
          </a:prstGeom>
          <a:noFill/>
          <a:ln/>
        </p:spPr>
        <p:txBody>
          <a:bodyPr wrap="square" rtlCol="0" anchor="ctr"/>
          <a:lstStyle/>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Multi-language sign vocabularies beyond the pilot set
</a:t>
            </a:r>
            <a:endParaRPr lang="en-US" sz="1250" dirty="0"/>
          </a:p>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Cloud sync / multi-device fleet management
</a:t>
            </a:r>
            <a:endParaRPr lang="en-US" sz="1250" dirty="0"/>
          </a:p>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Medical-grade certification or clinical validation
</a:t>
            </a:r>
            <a:endParaRPr lang="en-US" sz="1250" dirty="0"/>
          </a:p>
          <a:p>
            <a:pPr marL="342900" indent="-342900">
              <a:lnSpc>
                <a:spcPts val="2400"/>
              </a:lnSpc>
              <a:buSzPct val="100000"/>
              <a:buChar char="•"/>
            </a:pPr>
            <a:r>
              <a:rPr lang="en-US" sz="1250" dirty="0">
                <a:solidFill>
                  <a:srgbClr val="232B3E"/>
                </a:solidFill>
                <a:latin typeface="Calibri" pitchFamily="34" charset="0"/>
                <a:ea typeface="Calibri" pitchFamily="34" charset="-122"/>
                <a:cs typeface="Calibri" pitchFamily="34" charset="-120"/>
              </a:rPr>
              <a:t>Continuous (sentence-level) sign language translation
</a:t>
            </a:r>
            <a:endParaRPr lang="en-US" sz="1250" dirty="0"/>
          </a:p>
        </p:txBody>
      </p:sp>
      <p:sp>
        <p:nvSpPr>
          <p:cNvPr id="7" name="Shape 5"/>
          <p:cNvSpPr/>
          <p:nvPr/>
        </p:nvSpPr>
        <p:spPr>
          <a:xfrm>
            <a:off x="548640" y="4709160"/>
            <a:ext cx="11064240" cy="1417320"/>
          </a:xfrm>
          <a:prstGeom prst="rect">
            <a:avLst>
              <a:gd name="adj" fmla="val 3871"/>
            </a:avLst>
          </a:prstGeom>
          <a:solidFill>
            <a:srgbClr val="1E2761"/>
          </a:solidFill>
          <a:ln/>
        </p:spPr>
      </p:sp>
      <p:sp>
        <p:nvSpPr>
          <p:cNvPr id="8" name="Text 6"/>
          <p:cNvSpPr/>
          <p:nvPr/>
        </p:nvSpPr>
        <p:spPr>
          <a:xfrm>
            <a:off x="822960" y="4846320"/>
            <a:ext cx="10515600" cy="320040"/>
          </a:xfrm>
          <a:prstGeom prst="rect">
            <a:avLst/>
          </a:prstGeom>
          <a:noFill/>
          <a:ln/>
        </p:spPr>
        <p:txBody>
          <a:bodyPr wrap="square" rtlCol="0" anchor="ctr"/>
          <a:lstStyle/>
          <a:p>
            <a:pPr indent="0" marL="0">
              <a:buNone/>
            </a:pPr>
            <a:r>
              <a:rPr lang="en-US" sz="1300" b="1" dirty="0">
                <a:solidFill>
                  <a:srgbClr val="ED7D31"/>
                </a:solidFill>
                <a:latin typeface="Calibri" pitchFamily="34" charset="0"/>
                <a:ea typeface="Calibri" pitchFamily="34" charset="-122"/>
                <a:cs typeface="Calibri" pitchFamily="34" charset="-120"/>
              </a:rPr>
              <a:t>Feasibility for a 5-member team, 2 semesters</a:t>
            </a:r>
            <a:endParaRPr lang="en-US" sz="1300" dirty="0"/>
          </a:p>
        </p:txBody>
      </p:sp>
      <p:sp>
        <p:nvSpPr>
          <p:cNvPr id="9" name="Text 7"/>
          <p:cNvSpPr/>
          <p:nvPr/>
        </p:nvSpPr>
        <p:spPr>
          <a:xfrm>
            <a:off x="822960" y="5166360"/>
            <a:ext cx="10515600" cy="868680"/>
          </a:xfrm>
          <a:prstGeom prst="rect">
            <a:avLst/>
          </a:prstGeom>
          <a:noFill/>
          <a:ln/>
        </p:spPr>
        <p:txBody>
          <a:bodyPr wrap="square" rtlCol="0" anchor="ctr"/>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All three pipelines share ~70% of the compute pipeline (edge board, quantization workflow, sensor bus). Public datasets exist for ASR and sign recognition, so the team is not blocked on data collection. Every hardware part ships from Indian electronics retailers within days, and total prototype cost is under ₹10,000.</a:t>
            </a:r>
            <a:endParaRPr lang="en-US" sz="1200" dirty="0"/>
          </a:p>
        </p:txBody>
      </p:sp>
      <p:sp>
        <p:nvSpPr>
          <p:cNvPr id="10" name="Text 8"/>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11" name="Text 9"/>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 Existing Projects &amp; Differentiation</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2834640"/>
        </p:xfrm>
        <a:graphic>
          <a:graphicData uri="http://schemas.openxmlformats.org/drawingml/2006/table">
            <a:tbl>
              <a:tblPr/>
              <a:tblGrid>
                <a:gridCol w="3383280"/>
                <a:gridCol w="3931920"/>
                <a:gridCol w="3749040"/>
              </a:tblGrid>
              <a:tr h="7086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Existing Solution</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r>
              <a:tr h="708660">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Ultrasonic smart canes (HC-SR04 based)</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Threshold-based buzzer/vibration alert on obstacle detection</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No collision-time prediction; single-purpose device only</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708660">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AR captioning glasses (e.g., XRAI Glass, Access on Demand)</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Cloud-hosted ASR streamed to a near-eye display</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Depends on internet connectivity; specialised, costly hardware</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708660">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Edge sign-language recognizers (landmark + LSTM research systems)</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MediaPipe landmarks + lightweight temporal classifier on embedded boards</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Standalone research systems; not integrated with other assistive modes</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4" name="Shape 1"/>
          <p:cNvSpPr/>
          <p:nvPr/>
        </p:nvSpPr>
        <p:spPr>
          <a:xfrm>
            <a:off x="548640" y="4343400"/>
            <a:ext cx="11064240" cy="1737360"/>
          </a:xfrm>
          <a:prstGeom prst="rect">
            <a:avLst>
              <a:gd name="adj" fmla="val 3158"/>
            </a:avLst>
          </a:prstGeom>
          <a:solidFill>
            <a:srgbClr val="F4F6FB"/>
          </a:solidFill>
          <a:ln/>
        </p:spPr>
      </p:sp>
      <p:sp>
        <p:nvSpPr>
          <p:cNvPr id="5" name="Text 2"/>
          <p:cNvSpPr/>
          <p:nvPr/>
        </p:nvSpPr>
        <p:spPr>
          <a:xfrm>
            <a:off x="822960" y="4526280"/>
            <a:ext cx="1051560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TriSense's differentiation</a:t>
            </a:r>
            <a:endParaRPr lang="en-US" sz="1400" dirty="0"/>
          </a:p>
        </p:txBody>
      </p:sp>
      <p:sp>
        <p:nvSpPr>
          <p:cNvPr id="6" name="Text 3"/>
          <p:cNvSpPr/>
          <p:nvPr/>
        </p:nvSpPr>
        <p:spPr>
          <a:xfrm>
            <a:off x="822960" y="4892040"/>
            <a:ext cx="10515600" cy="1097280"/>
          </a:xfrm>
          <a:prstGeom prst="rect">
            <a:avLst/>
          </a:prstGeom>
          <a:noFill/>
          <a:ln/>
        </p:spPr>
        <p:txBody>
          <a:bodyPr wrap="square" rtlCol="0" anchor="ctr"/>
          <a:lstStyle/>
          <a:p>
            <a:pPr indent="0" marL="0">
              <a:lnSpc>
                <a:spcPts val="1800"/>
              </a:lnSpc>
              <a:buNone/>
            </a:pPr>
            <a:r>
              <a:rPr lang="en-US" sz="1250" dirty="0">
                <a:solidFill>
                  <a:srgbClr val="232B3E"/>
                </a:solidFill>
                <a:latin typeface="Calibri" pitchFamily="34" charset="0"/>
                <a:ea typeface="Calibri" pitchFamily="34" charset="-122"/>
                <a:cs typeface="Calibri" pitchFamily="34" charset="-120"/>
              </a:rPr>
              <a:t>No reviewed system serves all three impairment categories from one shared, fully offline, edge-deployed engine. TriSense's contribution is a reusable multi-modal inference architecture — not a new individual algorithm — that cuts hardware cost and complexity for affordable assistive technology.</a:t>
            </a:r>
            <a:endParaRPr lang="en-US" sz="1250" dirty="0"/>
          </a:p>
        </p:txBody>
      </p:sp>
      <p:sp>
        <p:nvSpPr>
          <p:cNvPr id="7" name="Text 4"/>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8" name="Text 5"/>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E(i). Quality of Initial Prototypes / Research Findings</a:t>
            </a:r>
            <a:endParaRPr lang="en-US" sz="3000" dirty="0"/>
          </a:p>
        </p:txBody>
      </p:sp>
      <p:sp>
        <p:nvSpPr>
          <p:cNvPr id="3" name="Text 1"/>
          <p:cNvSpPr/>
          <p:nvPr/>
        </p:nvSpPr>
        <p:spPr>
          <a:xfrm>
            <a:off x="548640" y="1188720"/>
            <a:ext cx="10972800" cy="640080"/>
          </a:xfrm>
          <a:prstGeom prst="rect">
            <a:avLst/>
          </a:prstGeom>
          <a:noFill/>
          <a:ln/>
        </p:spPr>
        <p:txBody>
          <a:bodyPr wrap="square" rtlCol="0" anchor="ctr"/>
          <a:lstStyle/>
          <a:p>
            <a:pPr indent="0" marL="0">
              <a:lnSpc>
                <a:spcPts val="1800"/>
              </a:lnSpc>
              <a:buNone/>
            </a:pPr>
            <a:r>
              <a:rPr lang="en-US" sz="1350" dirty="0">
                <a:solidFill>
                  <a:srgbClr val="232B3E"/>
                </a:solidFill>
                <a:latin typeface="Calibri" pitchFamily="34" charset="0"/>
                <a:ea typeface="Calibri" pitchFamily="34" charset="-122"/>
                <a:cs typeface="Calibri" pitchFamily="34" charset="-120"/>
              </a:rPr>
              <a:t>At proposal stage, the team has validated feasibility through a focused literature survey and an early architectural proof-of-concept (see Fig. — System Architecture, next slide).</a:t>
            </a:r>
            <a:endParaRPr lang="en-US" sz="1350" dirty="0"/>
          </a:p>
        </p:txBody>
      </p:sp>
      <p:sp>
        <p:nvSpPr>
          <p:cNvPr id="4" name="Shape 2"/>
          <p:cNvSpPr/>
          <p:nvPr/>
        </p:nvSpPr>
        <p:spPr>
          <a:xfrm>
            <a:off x="548640" y="2057400"/>
            <a:ext cx="3566160" cy="1920240"/>
          </a:xfrm>
          <a:prstGeom prst="rect">
            <a:avLst>
              <a:gd name="adj" fmla="val 2857"/>
            </a:avLst>
          </a:prstGeom>
          <a:solidFill>
            <a:srgbClr val="1E2761"/>
          </a:solidFill>
          <a:ln/>
        </p:spPr>
      </p:sp>
      <p:sp>
        <p:nvSpPr>
          <p:cNvPr id="5" name="Text 3"/>
          <p:cNvSpPr/>
          <p:nvPr/>
        </p:nvSpPr>
        <p:spPr>
          <a:xfrm>
            <a:off x="548640" y="2240280"/>
            <a:ext cx="3566160" cy="777240"/>
          </a:xfrm>
          <a:prstGeom prst="rect">
            <a:avLst/>
          </a:prstGeom>
          <a:noFill/>
          <a:ln/>
        </p:spPr>
        <p:txBody>
          <a:bodyPr wrap="square" rtlCol="0" anchor="ctr"/>
          <a:lstStyle/>
          <a:p>
            <a:pPr algn="ctr" indent="0" marL="0">
              <a:buNone/>
            </a:pPr>
            <a:r>
              <a:rPr lang="en-US" sz="3200" b="1" dirty="0">
                <a:solidFill>
                  <a:srgbClr val="ED7D31"/>
                </a:solidFill>
                <a:latin typeface="Cambria" pitchFamily="34" charset="0"/>
                <a:ea typeface="Cambria" pitchFamily="34" charset="-122"/>
                <a:cs typeface="Cambria" pitchFamily="34" charset="-120"/>
              </a:rPr>
              <a:t>84–99%</a:t>
            </a:r>
            <a:endParaRPr lang="en-US" sz="3200" dirty="0"/>
          </a:p>
        </p:txBody>
      </p:sp>
      <p:sp>
        <p:nvSpPr>
          <p:cNvPr id="6" name="Text 4"/>
          <p:cNvSpPr/>
          <p:nvPr/>
        </p:nvSpPr>
        <p:spPr>
          <a:xfrm>
            <a:off x="777240" y="3017520"/>
            <a:ext cx="3108960" cy="822960"/>
          </a:xfrm>
          <a:prstGeom prst="rect">
            <a:avLst/>
          </a:prstGeom>
          <a:noFill/>
          <a:ln/>
        </p:spPr>
        <p:txBody>
          <a:bodyPr wrap="square" rtlCol="0" anchor="ctr"/>
          <a:lstStyle/>
          <a:p>
            <a:pPr algn="ctr" indent="0" marL="0">
              <a:lnSpc>
                <a:spcPts val="1400"/>
              </a:lnSpc>
              <a:buNone/>
            </a:pPr>
            <a:r>
              <a:rPr lang="en-US" sz="1100" dirty="0">
                <a:solidFill>
                  <a:srgbClr val="FFFFFF"/>
                </a:solidFill>
                <a:latin typeface="Calibri" pitchFamily="34" charset="0"/>
                <a:ea typeface="Calibri" pitchFamily="34" charset="-122"/>
                <a:cs typeface="Calibri" pitchFamily="34" charset="-120"/>
              </a:rPr>
              <a:t>reported accuracy of CNN-LSTM sign classifiers on constrained vocabularies (literature)</a:t>
            </a:r>
            <a:endParaRPr lang="en-US" sz="1100" dirty="0"/>
          </a:p>
        </p:txBody>
      </p:sp>
      <p:sp>
        <p:nvSpPr>
          <p:cNvPr id="7" name="Shape 5"/>
          <p:cNvSpPr/>
          <p:nvPr/>
        </p:nvSpPr>
        <p:spPr>
          <a:xfrm>
            <a:off x="4343400" y="2057400"/>
            <a:ext cx="3566160" cy="1920240"/>
          </a:xfrm>
          <a:prstGeom prst="rect">
            <a:avLst>
              <a:gd name="adj" fmla="val 2857"/>
            </a:avLst>
          </a:prstGeom>
          <a:solidFill>
            <a:srgbClr val="1E2761"/>
          </a:solidFill>
          <a:ln/>
        </p:spPr>
      </p:sp>
      <p:sp>
        <p:nvSpPr>
          <p:cNvPr id="8" name="Text 6"/>
          <p:cNvSpPr/>
          <p:nvPr/>
        </p:nvSpPr>
        <p:spPr>
          <a:xfrm>
            <a:off x="4343400" y="2240280"/>
            <a:ext cx="3566160" cy="777240"/>
          </a:xfrm>
          <a:prstGeom prst="rect">
            <a:avLst/>
          </a:prstGeom>
          <a:noFill/>
          <a:ln/>
        </p:spPr>
        <p:txBody>
          <a:bodyPr wrap="square" rtlCol="0" anchor="ctr"/>
          <a:lstStyle/>
          <a:p>
            <a:pPr algn="ctr" indent="0" marL="0">
              <a:buNone/>
            </a:pPr>
            <a:r>
              <a:rPr lang="en-US" sz="3200" b="1" dirty="0">
                <a:solidFill>
                  <a:srgbClr val="ED7D31"/>
                </a:solidFill>
                <a:latin typeface="Cambria" pitchFamily="34" charset="0"/>
                <a:ea typeface="Cambria" pitchFamily="34" charset="-122"/>
                <a:cs typeface="Cambria" pitchFamily="34" charset="-120"/>
              </a:rPr>
              <a:t>&lt;100 ms</a:t>
            </a:r>
            <a:endParaRPr lang="en-US" sz="3200" dirty="0"/>
          </a:p>
        </p:txBody>
      </p:sp>
      <p:sp>
        <p:nvSpPr>
          <p:cNvPr id="9" name="Text 7"/>
          <p:cNvSpPr/>
          <p:nvPr/>
        </p:nvSpPr>
        <p:spPr>
          <a:xfrm>
            <a:off x="4572000" y="3017520"/>
            <a:ext cx="3108960" cy="822960"/>
          </a:xfrm>
          <a:prstGeom prst="rect">
            <a:avLst/>
          </a:prstGeom>
          <a:noFill/>
          <a:ln/>
        </p:spPr>
        <p:txBody>
          <a:bodyPr wrap="square" rtlCol="0" anchor="ctr"/>
          <a:lstStyle/>
          <a:p>
            <a:pPr algn="ctr" indent="0" marL="0">
              <a:lnSpc>
                <a:spcPts val="1400"/>
              </a:lnSpc>
              <a:buNone/>
            </a:pPr>
            <a:r>
              <a:rPr lang="en-US" sz="1100" dirty="0">
                <a:solidFill>
                  <a:srgbClr val="FFFFFF"/>
                </a:solidFill>
                <a:latin typeface="Calibri" pitchFamily="34" charset="0"/>
                <a:ea typeface="Calibri" pitchFamily="34" charset="-122"/>
                <a:cs typeface="Calibri" pitchFamily="34" charset="-120"/>
              </a:rPr>
              <a:t>latency achieved by landmark-based sign recognition on embedded boards (literature)</a:t>
            </a:r>
            <a:endParaRPr lang="en-US" sz="1100" dirty="0"/>
          </a:p>
        </p:txBody>
      </p:sp>
      <p:sp>
        <p:nvSpPr>
          <p:cNvPr id="10" name="Shape 8"/>
          <p:cNvSpPr/>
          <p:nvPr/>
        </p:nvSpPr>
        <p:spPr>
          <a:xfrm>
            <a:off x="8138160" y="2057400"/>
            <a:ext cx="3566160" cy="1920240"/>
          </a:xfrm>
          <a:prstGeom prst="rect">
            <a:avLst>
              <a:gd name="adj" fmla="val 2857"/>
            </a:avLst>
          </a:prstGeom>
          <a:solidFill>
            <a:srgbClr val="1E2761"/>
          </a:solidFill>
          <a:ln/>
        </p:spPr>
      </p:sp>
      <p:sp>
        <p:nvSpPr>
          <p:cNvPr id="11" name="Text 9"/>
          <p:cNvSpPr/>
          <p:nvPr/>
        </p:nvSpPr>
        <p:spPr>
          <a:xfrm>
            <a:off x="8138160" y="2240280"/>
            <a:ext cx="3566160" cy="777240"/>
          </a:xfrm>
          <a:prstGeom prst="rect">
            <a:avLst/>
          </a:prstGeom>
          <a:noFill/>
          <a:ln/>
        </p:spPr>
        <p:txBody>
          <a:bodyPr wrap="square" rtlCol="0" anchor="ctr"/>
          <a:lstStyle/>
          <a:p>
            <a:pPr algn="ctr" indent="0" marL="0">
              <a:buNone/>
            </a:pPr>
            <a:r>
              <a:rPr lang="en-US" sz="3200" b="1" dirty="0">
                <a:solidFill>
                  <a:srgbClr val="ED7D31"/>
                </a:solidFill>
                <a:latin typeface="Cambria" pitchFamily="34" charset="0"/>
                <a:ea typeface="Cambria" pitchFamily="34" charset="-122"/>
                <a:cs typeface="Cambria" pitchFamily="34" charset="-120"/>
              </a:rPr>
              <a:t>₹7–9.5k</a:t>
            </a:r>
            <a:endParaRPr lang="en-US" sz="3200" dirty="0"/>
          </a:p>
        </p:txBody>
      </p:sp>
      <p:sp>
        <p:nvSpPr>
          <p:cNvPr id="12" name="Text 10"/>
          <p:cNvSpPr/>
          <p:nvPr/>
        </p:nvSpPr>
        <p:spPr>
          <a:xfrm>
            <a:off x="8366760" y="3017520"/>
            <a:ext cx="3108960" cy="822960"/>
          </a:xfrm>
          <a:prstGeom prst="rect">
            <a:avLst/>
          </a:prstGeom>
          <a:noFill/>
          <a:ln/>
        </p:spPr>
        <p:txBody>
          <a:bodyPr wrap="square" rtlCol="0" anchor="ctr"/>
          <a:lstStyle/>
          <a:p>
            <a:pPr algn="ctr" indent="0" marL="0">
              <a:lnSpc>
                <a:spcPts val="1400"/>
              </a:lnSpc>
              <a:buNone/>
            </a:pPr>
            <a:r>
              <a:rPr lang="en-US" sz="1100" dirty="0">
                <a:solidFill>
                  <a:srgbClr val="FFFFFF"/>
                </a:solidFill>
                <a:latin typeface="Calibri" pitchFamily="34" charset="0"/>
                <a:ea typeface="Calibri" pitchFamily="34" charset="-122"/>
                <a:cs typeface="Calibri" pitchFamily="34" charset="-120"/>
              </a:rPr>
              <a:t>estimated per-unit prototype hardware cost (team's own BOM costing)</a:t>
            </a:r>
            <a:endParaRPr lang="en-US" sz="1100" dirty="0"/>
          </a:p>
        </p:txBody>
      </p:sp>
      <p:sp>
        <p:nvSpPr>
          <p:cNvPr id="13" name="Text 11"/>
          <p:cNvSpPr/>
          <p:nvPr/>
        </p:nvSpPr>
        <p:spPr>
          <a:xfrm>
            <a:off x="548640" y="4297680"/>
            <a:ext cx="11064240" cy="1280160"/>
          </a:xfrm>
          <a:prstGeom prst="rect">
            <a:avLst/>
          </a:prstGeom>
          <a:noFill/>
          <a:ln/>
        </p:spPr>
        <p:txBody>
          <a:bodyPr wrap="square" rtlCol="0" anchor="ctr"/>
          <a:lstStyle/>
          <a:p>
            <a:pPr indent="0" marL="0">
              <a:lnSpc>
                <a:spcPts val="1800"/>
              </a:lnSpc>
              <a:buNone/>
            </a:pPr>
            <a:r>
              <a:rPr lang="en-US" sz="1300" i="1" dirty="0">
                <a:solidFill>
                  <a:srgbClr val="6B7280"/>
                </a:solidFill>
                <a:latin typeface="Calibri" pitchFamily="34" charset="0"/>
                <a:ea typeface="Calibri" pitchFamily="34" charset="-122"/>
                <a:cs typeface="Calibri" pitchFamily="34" charset="-120"/>
              </a:rPr>
              <a:t>Early finding: obstacle-detection (Blind Mode) and captioning (Deaf Mode) rely on well-established, lower-risk techniques and will be prioritized for a working proof-of-concept by Review-2; sign-recognition (Mute Mode) is the highest-risk module and is planned as a staged extension.</a:t>
            </a:r>
            <a:endParaRPr lang="en-US" sz="1300" dirty="0"/>
          </a:p>
        </p:txBody>
      </p:sp>
      <p:sp>
        <p:nvSpPr>
          <p:cNvPr id="14" name="Text 12"/>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15" name="Text 13"/>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E(ii). Adherence to Project Plan &amp; Timeline</a:t>
            </a:r>
            <a:endParaRPr lang="en-US" sz="3000" dirty="0"/>
          </a:p>
        </p:txBody>
      </p:sp>
      <p:pic>
        <p:nvPicPr>
          <p:cNvPr id="3" name="Image 0" descr="images/fig2_timeline.png">    </p:cNvPr>
          <p:cNvPicPr>
            <a:picLocks noChangeAspect="1"/>
          </p:cNvPicPr>
          <p:nvPr/>
        </p:nvPicPr>
        <p:blipFill>
          <a:blip r:embed="rId1"/>
          <a:stretch>
            <a:fillRect/>
          </a:stretch>
        </p:blipFill>
        <p:spPr>
          <a:xfrm>
            <a:off x="548640" y="1188720"/>
            <a:ext cx="11064240" cy="4663440"/>
          </a:xfrm>
          <a:prstGeom prst="rect">
            <a:avLst/>
          </a:prstGeom>
        </p:spPr>
      </p:pic>
      <p:sp>
        <p:nvSpPr>
          <p:cNvPr id="4" name="Text 1"/>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5" name="Text 2"/>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E(iii). Research &amp; Literature Review</a:t>
            </a:r>
            <a:endParaRPr lang="en-US" sz="3000" dirty="0"/>
          </a:p>
        </p:txBody>
      </p:sp>
      <p:sp>
        <p:nvSpPr>
          <p:cNvPr id="3" name="Shape 1"/>
          <p:cNvSpPr/>
          <p:nvPr/>
        </p:nvSpPr>
        <p:spPr>
          <a:xfrm>
            <a:off x="548640" y="1234440"/>
            <a:ext cx="3611880" cy="4892040"/>
          </a:xfrm>
          <a:prstGeom prst="rect">
            <a:avLst>
              <a:gd name="adj" fmla="val 1519"/>
            </a:avLst>
          </a:prstGeom>
          <a:solidFill>
            <a:srgbClr val="F4F6FB"/>
          </a:solidFill>
          <a:ln/>
        </p:spPr>
      </p:sp>
      <p:sp>
        <p:nvSpPr>
          <p:cNvPr id="4" name="Shape 2"/>
          <p:cNvSpPr/>
          <p:nvPr/>
        </p:nvSpPr>
        <p:spPr>
          <a:xfrm>
            <a:off x="548640" y="1234440"/>
            <a:ext cx="3611880" cy="502920"/>
          </a:xfrm>
          <a:prstGeom prst="rect">
            <a:avLst>
              <a:gd name="adj" fmla="val 10909"/>
            </a:avLst>
          </a:prstGeom>
          <a:solidFill>
            <a:srgbClr val="1E2761"/>
          </a:solidFill>
          <a:ln/>
        </p:spPr>
      </p:sp>
      <p:sp>
        <p:nvSpPr>
          <p:cNvPr id="5" name="Text 3"/>
          <p:cNvSpPr/>
          <p:nvPr/>
        </p:nvSpPr>
        <p:spPr>
          <a:xfrm>
            <a:off x="548640" y="1234440"/>
            <a:ext cx="36118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Blind Mode</a:t>
            </a:r>
            <a:endParaRPr lang="en-US" sz="1500" dirty="0"/>
          </a:p>
        </p:txBody>
      </p:sp>
      <p:sp>
        <p:nvSpPr>
          <p:cNvPr id="6" name="Text 4"/>
          <p:cNvSpPr/>
          <p:nvPr/>
        </p:nvSpPr>
        <p:spPr>
          <a:xfrm>
            <a:off x="777240" y="1965960"/>
            <a:ext cx="3154680" cy="4023360"/>
          </a:xfrm>
          <a:prstGeom prst="rect">
            <a:avLst/>
          </a:prstGeom>
          <a:noFill/>
          <a:ln/>
        </p:spPr>
        <p:txBody>
          <a:bodyPr wrap="square" rtlCol="0" anchor="ctr"/>
          <a:lstStyle/>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Ultrasonic (HC-SR04) smart canes — cheap, reliable, threshold-alert only
</a:t>
            </a:r>
            <a:endParaRPr lang="en-US" sz="1150" dirty="0"/>
          </a:p>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IoT-enabled sticks add camera-based recognition to ultrasonic ranging
</a:t>
            </a:r>
            <a:endParaRPr lang="en-US" sz="1150" dirty="0"/>
          </a:p>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Gap: no existing work computes predictive collision-time
</a:t>
            </a:r>
            <a:endParaRPr lang="en-US" sz="1150" dirty="0"/>
          </a:p>
        </p:txBody>
      </p:sp>
      <p:sp>
        <p:nvSpPr>
          <p:cNvPr id="7" name="Shape 5"/>
          <p:cNvSpPr/>
          <p:nvPr/>
        </p:nvSpPr>
        <p:spPr>
          <a:xfrm>
            <a:off x="4343400" y="1234440"/>
            <a:ext cx="3611880" cy="4892040"/>
          </a:xfrm>
          <a:prstGeom prst="rect">
            <a:avLst>
              <a:gd name="adj" fmla="val 1519"/>
            </a:avLst>
          </a:prstGeom>
          <a:solidFill>
            <a:srgbClr val="F4F6FB"/>
          </a:solidFill>
          <a:ln/>
        </p:spPr>
      </p:sp>
      <p:sp>
        <p:nvSpPr>
          <p:cNvPr id="8" name="Shape 6"/>
          <p:cNvSpPr/>
          <p:nvPr/>
        </p:nvSpPr>
        <p:spPr>
          <a:xfrm>
            <a:off x="4343400" y="1234440"/>
            <a:ext cx="3611880" cy="502920"/>
          </a:xfrm>
          <a:prstGeom prst="rect">
            <a:avLst>
              <a:gd name="adj" fmla="val 10909"/>
            </a:avLst>
          </a:prstGeom>
          <a:solidFill>
            <a:srgbClr val="1E2761"/>
          </a:solidFill>
          <a:ln/>
        </p:spPr>
      </p:sp>
      <p:sp>
        <p:nvSpPr>
          <p:cNvPr id="9" name="Text 7"/>
          <p:cNvSpPr/>
          <p:nvPr/>
        </p:nvSpPr>
        <p:spPr>
          <a:xfrm>
            <a:off x="4343400" y="1234440"/>
            <a:ext cx="36118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Deaf Mode</a:t>
            </a:r>
            <a:endParaRPr lang="en-US" sz="1500" dirty="0"/>
          </a:p>
        </p:txBody>
      </p:sp>
      <p:sp>
        <p:nvSpPr>
          <p:cNvPr id="10" name="Text 8"/>
          <p:cNvSpPr/>
          <p:nvPr/>
        </p:nvSpPr>
        <p:spPr>
          <a:xfrm>
            <a:off x="4572000" y="1965960"/>
            <a:ext cx="3154680" cy="4023360"/>
          </a:xfrm>
          <a:prstGeom prst="rect">
            <a:avLst/>
          </a:prstGeom>
          <a:noFill/>
          <a:ln/>
        </p:spPr>
        <p:txBody>
          <a:bodyPr wrap="square" rtlCol="0" anchor="ctr"/>
          <a:lstStyle/>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Transparent-display / AR captioning preserves eye contact during conversation
</a:t>
            </a:r>
            <a:endParaRPr lang="en-US" sz="1150" dirty="0"/>
          </a:p>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Clinical ASR captioning studies show strong DHH usability outcomes
</a:t>
            </a:r>
            <a:endParaRPr lang="en-US" sz="1150" dirty="0"/>
          </a:p>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Gap: most systems depend on cloud ASR APIs, not offline-first
</a:t>
            </a:r>
            <a:endParaRPr lang="en-US" sz="1150" dirty="0"/>
          </a:p>
        </p:txBody>
      </p:sp>
      <p:sp>
        <p:nvSpPr>
          <p:cNvPr id="11" name="Shape 9"/>
          <p:cNvSpPr/>
          <p:nvPr/>
        </p:nvSpPr>
        <p:spPr>
          <a:xfrm>
            <a:off x="8138160" y="1234440"/>
            <a:ext cx="3611880" cy="4892040"/>
          </a:xfrm>
          <a:prstGeom prst="rect">
            <a:avLst>
              <a:gd name="adj" fmla="val 1519"/>
            </a:avLst>
          </a:prstGeom>
          <a:solidFill>
            <a:srgbClr val="F4F6FB"/>
          </a:solidFill>
          <a:ln/>
        </p:spPr>
      </p:sp>
      <p:sp>
        <p:nvSpPr>
          <p:cNvPr id="12" name="Shape 10"/>
          <p:cNvSpPr/>
          <p:nvPr/>
        </p:nvSpPr>
        <p:spPr>
          <a:xfrm>
            <a:off x="8138160" y="1234440"/>
            <a:ext cx="3611880" cy="502920"/>
          </a:xfrm>
          <a:prstGeom prst="rect">
            <a:avLst>
              <a:gd name="adj" fmla="val 10909"/>
            </a:avLst>
          </a:prstGeom>
          <a:solidFill>
            <a:srgbClr val="1E2761"/>
          </a:solidFill>
          <a:ln/>
        </p:spPr>
      </p:sp>
      <p:sp>
        <p:nvSpPr>
          <p:cNvPr id="13" name="Text 11"/>
          <p:cNvSpPr/>
          <p:nvPr/>
        </p:nvSpPr>
        <p:spPr>
          <a:xfrm>
            <a:off x="8138160" y="1234440"/>
            <a:ext cx="36118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Mute Mode</a:t>
            </a:r>
            <a:endParaRPr lang="en-US" sz="1500" dirty="0"/>
          </a:p>
        </p:txBody>
      </p:sp>
      <p:sp>
        <p:nvSpPr>
          <p:cNvPr id="14" name="Text 12"/>
          <p:cNvSpPr/>
          <p:nvPr/>
        </p:nvSpPr>
        <p:spPr>
          <a:xfrm>
            <a:off x="8366760" y="1965960"/>
            <a:ext cx="3154680" cy="4023360"/>
          </a:xfrm>
          <a:prstGeom prst="rect">
            <a:avLst/>
          </a:prstGeom>
          <a:noFill/>
          <a:ln/>
        </p:spPr>
        <p:txBody>
          <a:bodyPr wrap="square" rtlCol="0" anchor="ctr"/>
          <a:lstStyle/>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CNN-LSTM / 3D-CNN hybrids report 84–99% accuracy on gesture vocabularies
</a:t>
            </a:r>
            <a:endParaRPr lang="en-US" sz="1150" dirty="0"/>
          </a:p>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Landmark-based pipelines (MediaPipe) enable real-time edge inference
</a:t>
            </a:r>
            <a:endParaRPr lang="en-US" sz="1150" dirty="0"/>
          </a:p>
          <a:p>
            <a:pPr marL="342900" indent="-342900">
              <a:lnSpc>
                <a:spcPts val="2000"/>
              </a:lnSpc>
              <a:buSzPct val="100000"/>
              <a:buChar char="•"/>
            </a:pPr>
            <a:r>
              <a:rPr lang="en-US" sz="1150" dirty="0">
                <a:solidFill>
                  <a:srgbClr val="232B3E"/>
                </a:solidFill>
                <a:latin typeface="Calibri" pitchFamily="34" charset="0"/>
                <a:ea typeface="Calibri" pitchFamily="34" charset="-122"/>
                <a:cs typeface="Calibri" pitchFamily="34" charset="-120"/>
              </a:rPr>
              <a:t>Gap: no system integrates SLR with other assistive modalities
</a:t>
            </a:r>
            <a:endParaRPr lang="en-US" sz="1150" dirty="0"/>
          </a:p>
        </p:txBody>
      </p:sp>
      <p:sp>
        <p:nvSpPr>
          <p:cNvPr id="15" name="Text 13"/>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16" name="Text 14"/>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 Project Modules — System Architecture</a:t>
            </a:r>
            <a:endParaRPr lang="en-US" sz="3000" dirty="0"/>
          </a:p>
        </p:txBody>
      </p:sp>
      <p:pic>
        <p:nvPicPr>
          <p:cNvPr id="3" name="Image 0" descr="images/fig1_architecture.png">    </p:cNvPr>
          <p:cNvPicPr>
            <a:picLocks noChangeAspect="1"/>
          </p:cNvPicPr>
          <p:nvPr/>
        </p:nvPicPr>
        <p:blipFill>
          <a:blip r:embed="rId1"/>
          <a:stretch>
            <a:fillRect/>
          </a:stretch>
        </p:blipFill>
        <p:spPr>
          <a:xfrm>
            <a:off x="1417320" y="1143000"/>
            <a:ext cx="9326880" cy="5760720"/>
          </a:xfrm>
          <a:prstGeom prst="rect">
            <a:avLst/>
          </a:prstGeom>
        </p:spPr>
      </p:pic>
      <p:sp>
        <p:nvSpPr>
          <p:cNvPr id="4" name="Text 1"/>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5" name="Text 2"/>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 Project Modules — Purpose of Each Component</a:t>
            </a:r>
            <a:endParaRPr lang="en-US" sz="3000" dirty="0"/>
          </a:p>
        </p:txBody>
      </p:sp>
      <p:sp>
        <p:nvSpPr>
          <p:cNvPr id="3" name="Shape 1"/>
          <p:cNvSpPr/>
          <p:nvPr/>
        </p:nvSpPr>
        <p:spPr>
          <a:xfrm>
            <a:off x="548640" y="1280160"/>
            <a:ext cx="3566160" cy="2834640"/>
          </a:xfrm>
          <a:prstGeom prst="rect">
            <a:avLst>
              <a:gd name="adj" fmla="val 2581"/>
            </a:avLst>
          </a:prstGeom>
          <a:solidFill>
            <a:srgbClr val="F4E3D3"/>
          </a:solidFill>
          <a:ln/>
        </p:spPr>
      </p:sp>
      <p:sp>
        <p:nvSpPr>
          <p:cNvPr id="4" name="Text 2"/>
          <p:cNvSpPr/>
          <p:nvPr/>
        </p:nvSpPr>
        <p:spPr>
          <a:xfrm>
            <a:off x="822960" y="1508760"/>
            <a:ext cx="301752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Blind Mode</a:t>
            </a:r>
            <a:endParaRPr lang="en-US" sz="1600" dirty="0"/>
          </a:p>
        </p:txBody>
      </p:sp>
      <p:sp>
        <p:nvSpPr>
          <p:cNvPr id="5" name="Text 3"/>
          <p:cNvSpPr/>
          <p:nvPr/>
        </p:nvSpPr>
        <p:spPr>
          <a:xfrm>
            <a:off x="822960" y="2057400"/>
            <a:ext cx="3017520" cy="1828800"/>
          </a:xfrm>
          <a:prstGeom prst="rect">
            <a:avLst/>
          </a:prstGeom>
          <a:noFill/>
          <a:ln/>
        </p:spPr>
        <p:txBody>
          <a:bodyPr wrap="square" rtlCol="0" anchor="ctr"/>
          <a:lstStyle/>
          <a:p>
            <a:pPr indent="0" marL="0">
              <a:lnSpc>
                <a:spcPts val="1700"/>
              </a:lnSpc>
              <a:buNone/>
            </a:pPr>
            <a:r>
              <a:rPr lang="en-US" sz="1200" dirty="0">
                <a:solidFill>
                  <a:srgbClr val="232B3E"/>
                </a:solidFill>
                <a:latin typeface="Calibri" pitchFamily="34" charset="0"/>
                <a:ea typeface="Calibri" pitchFamily="34" charset="-122"/>
                <a:cs typeface="Calibri" pitchFamily="34" charset="-120"/>
              </a:rPr>
              <a:t>Ultrasonic array + camera depth cues predict time-to-collision; directional haptic motors alert the user before contact.</a:t>
            </a:r>
            <a:endParaRPr lang="en-US" sz="1200" dirty="0"/>
          </a:p>
        </p:txBody>
      </p:sp>
      <p:sp>
        <p:nvSpPr>
          <p:cNvPr id="6" name="Shape 4"/>
          <p:cNvSpPr/>
          <p:nvPr/>
        </p:nvSpPr>
        <p:spPr>
          <a:xfrm>
            <a:off x="4343400" y="1280160"/>
            <a:ext cx="3566160" cy="2834640"/>
          </a:xfrm>
          <a:prstGeom prst="rect">
            <a:avLst>
              <a:gd name="adj" fmla="val 2581"/>
            </a:avLst>
          </a:prstGeom>
          <a:solidFill>
            <a:srgbClr val="D9F0E1"/>
          </a:solidFill>
          <a:ln/>
        </p:spPr>
      </p:sp>
      <p:sp>
        <p:nvSpPr>
          <p:cNvPr id="7" name="Text 5"/>
          <p:cNvSpPr/>
          <p:nvPr/>
        </p:nvSpPr>
        <p:spPr>
          <a:xfrm>
            <a:off x="4617720" y="1508760"/>
            <a:ext cx="301752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Deaf Mode</a:t>
            </a:r>
            <a:endParaRPr lang="en-US" sz="1600" dirty="0"/>
          </a:p>
        </p:txBody>
      </p:sp>
      <p:sp>
        <p:nvSpPr>
          <p:cNvPr id="8" name="Text 6"/>
          <p:cNvSpPr/>
          <p:nvPr/>
        </p:nvSpPr>
        <p:spPr>
          <a:xfrm>
            <a:off x="4617720" y="2057400"/>
            <a:ext cx="3017520" cy="1828800"/>
          </a:xfrm>
          <a:prstGeom prst="rect">
            <a:avLst/>
          </a:prstGeom>
          <a:noFill/>
          <a:ln/>
        </p:spPr>
        <p:txBody>
          <a:bodyPr wrap="square" rtlCol="0" anchor="ctr"/>
          <a:lstStyle/>
          <a:p>
            <a:pPr indent="0" marL="0">
              <a:lnSpc>
                <a:spcPts val="1700"/>
              </a:lnSpc>
              <a:buNone/>
            </a:pPr>
            <a:r>
              <a:rPr lang="en-US" sz="1200" dirty="0">
                <a:solidFill>
                  <a:srgbClr val="232B3E"/>
                </a:solidFill>
                <a:latin typeface="Calibri" pitchFamily="34" charset="0"/>
                <a:ea typeface="Calibri" pitchFamily="34" charset="-122"/>
                <a:cs typeface="Calibri" pitchFamily="34" charset="-120"/>
              </a:rPr>
              <a:t>On-device streaming ASR converts ambient speech to live rolling captions on a compact OLED display.</a:t>
            </a:r>
            <a:endParaRPr lang="en-US" sz="1200" dirty="0"/>
          </a:p>
        </p:txBody>
      </p:sp>
      <p:sp>
        <p:nvSpPr>
          <p:cNvPr id="9" name="Shape 7"/>
          <p:cNvSpPr/>
          <p:nvPr/>
        </p:nvSpPr>
        <p:spPr>
          <a:xfrm>
            <a:off x="8138160" y="1280160"/>
            <a:ext cx="3566160" cy="2834640"/>
          </a:xfrm>
          <a:prstGeom prst="rect">
            <a:avLst>
              <a:gd name="adj" fmla="val 2581"/>
            </a:avLst>
          </a:prstGeom>
          <a:solidFill>
            <a:srgbClr val="DDE6FA"/>
          </a:solidFill>
          <a:ln/>
        </p:spPr>
      </p:sp>
      <p:sp>
        <p:nvSpPr>
          <p:cNvPr id="10" name="Text 8"/>
          <p:cNvSpPr/>
          <p:nvPr/>
        </p:nvSpPr>
        <p:spPr>
          <a:xfrm>
            <a:off x="8412480" y="1508760"/>
            <a:ext cx="301752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Mute Mode</a:t>
            </a:r>
            <a:endParaRPr lang="en-US" sz="1600" dirty="0"/>
          </a:p>
        </p:txBody>
      </p:sp>
      <p:sp>
        <p:nvSpPr>
          <p:cNvPr id="11" name="Text 9"/>
          <p:cNvSpPr/>
          <p:nvPr/>
        </p:nvSpPr>
        <p:spPr>
          <a:xfrm>
            <a:off x="8412480" y="2057400"/>
            <a:ext cx="3017520" cy="1828800"/>
          </a:xfrm>
          <a:prstGeom prst="rect">
            <a:avLst/>
          </a:prstGeom>
          <a:noFill/>
          <a:ln/>
        </p:spPr>
        <p:txBody>
          <a:bodyPr wrap="square" rtlCol="0" anchor="ctr"/>
          <a:lstStyle/>
          <a:p>
            <a:pPr indent="0" marL="0">
              <a:lnSpc>
                <a:spcPts val="1700"/>
              </a:lnSpc>
              <a:buNone/>
            </a:pPr>
            <a:r>
              <a:rPr lang="en-US" sz="1200" dirty="0">
                <a:solidFill>
                  <a:srgbClr val="232B3E"/>
                </a:solidFill>
                <a:latin typeface="Calibri" pitchFamily="34" charset="0"/>
                <a:ea typeface="Calibri" pitchFamily="34" charset="-122"/>
                <a:cs typeface="Calibri" pitchFamily="34" charset="-120"/>
              </a:rPr>
              <a:t>Camera captures hand motion; landmark extraction + temporal classifier translate signs to speech via speaker.</a:t>
            </a:r>
            <a:endParaRPr lang="en-US" sz="1200" dirty="0"/>
          </a:p>
        </p:txBody>
      </p:sp>
      <p:sp>
        <p:nvSpPr>
          <p:cNvPr id="12" name="Text 10"/>
          <p:cNvSpPr/>
          <p:nvPr/>
        </p:nvSpPr>
        <p:spPr>
          <a:xfrm>
            <a:off x="548640" y="4434840"/>
            <a:ext cx="11064240" cy="45720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Shared backbone: Raspberry Pi 4 edge unit + mode manager, common power supply and enclosure across all three modules.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5074920"/>
          <a:ext cx="11064240" cy="1234440"/>
        </p:xfrm>
        <a:graphic>
          <a:graphicData uri="http://schemas.openxmlformats.org/drawingml/2006/table">
            <a:tbl>
              <a:tblPr/>
              <a:tblGrid>
                <a:gridCol w="7315200"/>
                <a:gridCol w="374904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Approx. Price (INR)</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r>
              <a:tr h="411480">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Raspberry Pi 4 (4GB)</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₹4,500 – 5,500</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11480">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Camera module + ultrasonic array (x3) + mic + amp + OLED + haptics + battery pack</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1150" dirty="0">
                          <a:solidFill>
                            <a:srgbClr val="232B3E"/>
                          </a:solidFill>
                          <a:latin typeface="Calibri" pitchFamily="34" charset="0"/>
                          <a:ea typeface="Calibri" pitchFamily="34" charset="-122"/>
                          <a:cs typeface="Calibri" pitchFamily="34" charset="-120"/>
                        </a:rPr>
                        <a:t>₹2,500 – 4,000</a:t>
                      </a:r>
                      <a:endParaRPr lang="en-US" sz="1150" dirty="0">
                        <a:latin typeface="Calibri" charset="0"/>
                        <a:ea typeface="Calibri" charset="0"/>
                        <a:cs typeface="Calibri" charset="0"/>
                      </a:endParaRPr>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14" name="Text 11"/>
          <p:cNvSpPr/>
          <p:nvPr/>
        </p:nvSpPr>
        <p:spPr>
          <a:xfrm>
            <a:off x="548640" y="640080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TriSense — DSN4091 Capstone Project, Phase-1 Review-1</a:t>
            </a:r>
            <a:endParaRPr lang="en-US" sz="900" dirty="0"/>
          </a:p>
        </p:txBody>
      </p:sp>
      <p:sp>
        <p:nvSpPr>
          <p:cNvPr id="15" name="Text 12"/>
          <p:cNvSpPr/>
          <p:nvPr/>
        </p:nvSpPr>
        <p:spPr>
          <a:xfrm>
            <a:off x="11274552" y="640080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02920"/>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 References</a:t>
            </a:r>
            <a:endParaRPr lang="en-US" sz="3000" dirty="0"/>
          </a:p>
        </p:txBody>
      </p:sp>
      <p:sp>
        <p:nvSpPr>
          <p:cNvPr id="3" name="Text 1"/>
          <p:cNvSpPr/>
          <p:nvPr/>
        </p:nvSpPr>
        <p:spPr>
          <a:xfrm>
            <a:off x="548640" y="1371600"/>
            <a:ext cx="11064240" cy="4754880"/>
          </a:xfrm>
          <a:prstGeom prst="rect">
            <a:avLst/>
          </a:prstGeom>
          <a:noFill/>
          <a:ln/>
        </p:spPr>
        <p:txBody>
          <a:bodyPr wrap="square" rtlCol="0" anchor="ctr"/>
          <a:lstStyle/>
          <a:p>
            <a:pPr marL="342900" indent="-342900">
              <a:lnSpc>
                <a:spcPts val="2600"/>
              </a:lnSpc>
              <a:buSzPct val="100000"/>
              <a:buChar char="•"/>
            </a:pPr>
            <a:r>
              <a:rPr lang="en-US" sz="1300" dirty="0">
                <a:solidFill>
                  <a:srgbClr val="CADCFC"/>
                </a:solidFill>
                <a:latin typeface="Calibri" pitchFamily="34" charset="0"/>
                <a:ea typeface="Calibri" pitchFamily="34" charset="-122"/>
                <a:cs typeface="Calibri" pitchFamily="34" charset="-120"/>
              </a:rPr>
              <a:t>N. Islam et al., “Ultrasonic Sensor Based Smart Blind Stick,” IEEE ICCTCT, 2018.
</a:t>
            </a:r>
            <a:endParaRPr lang="en-US" sz="1300" dirty="0"/>
          </a:p>
          <a:p>
            <a:pPr marL="342900" indent="-342900">
              <a:lnSpc>
                <a:spcPts val="2600"/>
              </a:lnSpc>
              <a:buSzPct val="100000"/>
              <a:buChar char="•"/>
            </a:pPr>
            <a:r>
              <a:rPr lang="en-US" sz="1300" dirty="0">
                <a:solidFill>
                  <a:srgbClr val="CADCFC"/>
                </a:solidFill>
                <a:latin typeface="Calibri" pitchFamily="34" charset="0"/>
                <a:ea typeface="Calibri" pitchFamily="34" charset="-122"/>
                <a:cs typeface="Calibri" pitchFamily="34" charset="-120"/>
              </a:rPr>
              <a:t>S. Mohapatra et al., “Smart Walking Stick for Blind Integrated with SOS Navigation System,” IEEE ICCTCT, 2018.
</a:t>
            </a:r>
            <a:endParaRPr lang="en-US" sz="1300" dirty="0"/>
          </a:p>
          <a:p>
            <a:pPr marL="342900" indent="-342900">
              <a:lnSpc>
                <a:spcPts val="2600"/>
              </a:lnSpc>
              <a:buSzPct val="100000"/>
              <a:buChar char="•"/>
            </a:pPr>
            <a:r>
              <a:rPr lang="en-US" sz="1300" dirty="0">
                <a:solidFill>
                  <a:srgbClr val="CADCFC"/>
                </a:solidFill>
                <a:latin typeface="Calibri" pitchFamily="34" charset="0"/>
                <a:ea typeface="Calibri" pitchFamily="34" charset="-122"/>
                <a:cs typeface="Calibri" pitchFamily="34" charset="-120"/>
              </a:rPr>
              <a:t>D. Key et al., “Real-Time ASL Recognition Using 3D CNN and LSTM,” arXiv:2512.22177, 2025.
</a:t>
            </a:r>
            <a:endParaRPr lang="en-US" sz="1300" dirty="0"/>
          </a:p>
          <a:p>
            <a:pPr marL="342900" indent="-342900">
              <a:lnSpc>
                <a:spcPts val="2600"/>
              </a:lnSpc>
              <a:buSzPct val="100000"/>
              <a:buChar char="•"/>
            </a:pPr>
            <a:r>
              <a:rPr lang="en-US" sz="1300" dirty="0">
                <a:solidFill>
                  <a:srgbClr val="CADCFC"/>
                </a:solidFill>
                <a:latin typeface="Calibri" pitchFamily="34" charset="0"/>
                <a:ea typeface="Calibri" pitchFamily="34" charset="-122"/>
                <a:cs typeface="Calibri" pitchFamily="34" charset="-120"/>
              </a:rPr>
              <a:t>K. Yamamoto et al., “See-Through Captions: Real-Time Captioning for DHH People,” arXiv:2101.11326, 2021.
</a:t>
            </a:r>
            <a:endParaRPr lang="en-US" sz="1300" dirty="0"/>
          </a:p>
          <a:p>
            <a:pPr marL="342900" indent="-342900">
              <a:lnSpc>
                <a:spcPts val="2600"/>
              </a:lnSpc>
              <a:buSzPct val="100000"/>
              <a:buChar char="•"/>
            </a:pPr>
            <a:r>
              <a:rPr lang="en-US" sz="1300" dirty="0">
                <a:solidFill>
                  <a:srgbClr val="CADCFC"/>
                </a:solidFill>
                <a:latin typeface="Calibri" pitchFamily="34" charset="0"/>
                <a:ea typeface="Calibri" pitchFamily="34" charset="-122"/>
                <a:cs typeface="Calibri" pitchFamily="34" charset="-120"/>
              </a:rPr>
              <a:t>R. Mathew et al., “Access on Demand: Real-time Multi-modal Accessibility via AR,” ACM ASSETS, 2022.
</a:t>
            </a:r>
            <a:endParaRPr lang="en-US" sz="1300" dirty="0"/>
          </a:p>
          <a:p>
            <a:pPr marL="342900" indent="-342900">
              <a:lnSpc>
                <a:spcPts val="2600"/>
              </a:lnSpc>
              <a:buSzPct val="100000"/>
              <a:buChar char="•"/>
            </a:pPr>
            <a:r>
              <a:rPr lang="en-US" sz="1300" dirty="0">
                <a:solidFill>
                  <a:srgbClr val="CADCFC"/>
                </a:solidFill>
                <a:latin typeface="Calibri" pitchFamily="34" charset="0"/>
                <a:ea typeface="Calibri" pitchFamily="34" charset="-122"/>
                <a:cs typeface="Calibri" pitchFamily="34" charset="-120"/>
              </a:rPr>
              <a:t>Real-Time Attention-Based Embedded LSTM for Dynamic Sign Language Recognition on Edge Devices, J. Real-Time Image Processing (Springer), 2024.
</a:t>
            </a:r>
            <a:endParaRPr lang="en-US" sz="1300" dirty="0"/>
          </a:p>
        </p:txBody>
      </p:sp>
      <p:sp>
        <p:nvSpPr>
          <p:cNvPr id="4" name="Text 2"/>
          <p:cNvSpPr/>
          <p:nvPr/>
        </p:nvSpPr>
        <p:spPr>
          <a:xfrm>
            <a:off x="548640" y="6309360"/>
            <a:ext cx="11064240"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Full reference list in the Phase-1 Report (Chapter: References &amp; Publication).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2026-08-03T01:33:18Z</dcterms:created>
  <dcterms:modified xsi:type="dcterms:W3CDTF">2026-08-03T01:33:18Z</dcterms:modified>
</cp:coreProperties>
</file>